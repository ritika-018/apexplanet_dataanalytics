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90D421-6881-4B9F-A232-8CF34318E536}">
  <a:tblStyle styleId="{3090D421-6881-4B9F-A232-8CF34318E53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A7EA4">
              <a:alpha val="20000"/>
            </a:srgbClr>
          </a:solidFill>
          <a:ln cap="flat" cmpd="sng" w="12700">
            <a:solidFill>
              <a:srgbClr val="0A7EA4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0C9A7">
              <a:alpha val="20000"/>
            </a:srgbClr>
          </a:solidFill>
          <a:ln cap="flat" cmpd="sng" w="12700">
            <a:solidFill>
              <a:srgbClr val="00C9A7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858000" y="-457200"/>
            <a:ext cx="1371600" cy="1371600"/>
          </a:xfrm>
          <a:prstGeom prst="ellipse">
            <a:avLst/>
          </a:prstGeom>
          <a:solidFill>
            <a:srgbClr val="F59E0B">
              <a:alpha val="25098"/>
            </a:srgbClr>
          </a:solidFill>
          <a:ln cap="flat" cmpd="sng" w="12700">
            <a:solidFill>
              <a:srgbClr val="F59E0B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48647" y="731524"/>
            <a:ext cx="1868400" cy="320100"/>
          </a:xfrm>
          <a:prstGeom prst="roundRect">
            <a:avLst>
              <a:gd fmla="val 13158" name="adj"/>
            </a:avLst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48647" y="731525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1280160"/>
            <a:ext cx="7772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Exploratory Data Analysis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1965960"/>
            <a:ext cx="7772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E6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4B8E6"/>
                </a:solidFill>
                <a:latin typeface="Cambria"/>
                <a:ea typeface="Cambria"/>
                <a:cs typeface="Cambria"/>
                <a:sym typeface="Cambria"/>
              </a:rPr>
              <a:t>&amp; Business Intelligence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274320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Sales Data 2025 | Retail Analytics Deep Dive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3246120"/>
            <a:ext cx="4114800" cy="36576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48640" y="3520440"/>
            <a:ext cx="1920240" cy="1005840"/>
          </a:xfrm>
          <a:prstGeom prst="roundRect">
            <a:avLst>
              <a:gd fmla="val 7273" name="adj"/>
            </a:avLst>
          </a:prstGeom>
          <a:solidFill>
            <a:srgbClr val="0A7EA4">
              <a:alpha val="20000"/>
            </a:srgbClr>
          </a:solidFill>
          <a:ln cap="flat" cmpd="sng" w="12700">
            <a:solidFill>
              <a:srgbClr val="14B8E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48640" y="354787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1,000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48640" y="400507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697480" y="3520440"/>
            <a:ext cx="1920240" cy="1005840"/>
          </a:xfrm>
          <a:prstGeom prst="roundRect">
            <a:avLst>
              <a:gd fmla="val 7273" name="adj"/>
            </a:avLst>
          </a:prstGeom>
          <a:solidFill>
            <a:srgbClr val="0A7EA4">
              <a:alpha val="20000"/>
            </a:srgbClr>
          </a:solidFill>
          <a:ln cap="flat" cmpd="sng" w="12700">
            <a:solidFill>
              <a:srgbClr val="14B8E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2697480" y="354787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2697480" y="400507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846320" y="3520440"/>
            <a:ext cx="1920240" cy="1005840"/>
          </a:xfrm>
          <a:prstGeom prst="roundRect">
            <a:avLst>
              <a:gd fmla="val 7273" name="adj"/>
            </a:avLst>
          </a:prstGeom>
          <a:solidFill>
            <a:srgbClr val="0A7EA4">
              <a:alpha val="20000"/>
            </a:srgbClr>
          </a:solidFill>
          <a:ln cap="flat" cmpd="sng" w="12700">
            <a:solidFill>
              <a:srgbClr val="14B8E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846320" y="354787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846320" y="400507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995160" y="3520440"/>
            <a:ext cx="1920240" cy="1005840"/>
          </a:xfrm>
          <a:prstGeom prst="roundRect">
            <a:avLst>
              <a:gd fmla="val 7273" name="adj"/>
            </a:avLst>
          </a:prstGeom>
          <a:solidFill>
            <a:srgbClr val="0A7EA4">
              <a:alpha val="20000"/>
            </a:srgbClr>
          </a:solidFill>
          <a:ln cap="flat" cmpd="sng" w="12700">
            <a:solidFill>
              <a:srgbClr val="14B8E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6995160" y="354787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995160" y="400507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548645" y="4663451"/>
            <a:ext cx="429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Prepared by: Ritika  |  Dataset: Cleaned_Sales_Dataset.xlsx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TABLE OF CONTENTS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1097280"/>
            <a:ext cx="411480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66928" y="1298448"/>
            <a:ext cx="530352" cy="530352"/>
          </a:xfrm>
          <a:prstGeom prst="roundRect">
            <a:avLst>
              <a:gd fmla="val 10345" name="adj"/>
            </a:avLst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66928" y="129844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E6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4B8E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207008" y="1225296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Dataset Overview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207008" y="160020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Shape, columns, data types, missing values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892040" y="1097280"/>
            <a:ext cx="411480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001768" y="1298448"/>
            <a:ext cx="530352" cy="530352"/>
          </a:xfrm>
          <a:prstGeom prst="roundRect">
            <a:avLst>
              <a:gd fmla="val 10345" name="adj"/>
            </a:avLst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001768" y="129844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E6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4B8E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641848" y="1225296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Descriptive Statistics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641848" y="160020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Numerical summary, distributions, outliers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2331720"/>
            <a:ext cx="411480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66928" y="2532888"/>
            <a:ext cx="530352" cy="530352"/>
          </a:xfrm>
          <a:prstGeom prst="roundRect">
            <a:avLst>
              <a:gd fmla="val 10345" name="adj"/>
            </a:avLst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66928" y="253288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E6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4B8E6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207008" y="2459736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Univariate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207008" y="283464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Category, product, city, gender, age distributions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892040" y="2331720"/>
            <a:ext cx="411480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5001768" y="2532888"/>
            <a:ext cx="530352" cy="530352"/>
          </a:xfrm>
          <a:prstGeom prst="roundRect">
            <a:avLst>
              <a:gd fmla="val 10345" name="adj"/>
            </a:avLst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001768" y="253288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E6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4B8E6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641848" y="2459736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SQL Business Insights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641848" y="283464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Revenue, top customers, monthly trends via 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3566160"/>
            <a:ext cx="411480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566928" y="3767328"/>
            <a:ext cx="530352" cy="530352"/>
          </a:xfrm>
          <a:prstGeom prst="roundRect">
            <a:avLst>
              <a:gd fmla="val 10345" name="adj"/>
            </a:avLst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566928" y="376732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E6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4B8E6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207008" y="3694176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Multivariate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207008" y="406908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Correlations, scatter plots, heatmap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892040" y="3566160"/>
            <a:ext cx="411480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5001768" y="3767328"/>
            <a:ext cx="530352" cy="530352"/>
          </a:xfrm>
          <a:prstGeom prst="roundRect">
            <a:avLst>
              <a:gd fmla="val 10345" name="adj"/>
            </a:avLst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5001768" y="376732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E6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4B8E6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641848" y="3694176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Key Findings &amp; KPIs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641848" y="406908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Dashboard mock-up, insights, recommendations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365760" y="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A7EA4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005840" y="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Dataset Overview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20040" y="914400"/>
            <a:ext cx="1965960" cy="868680"/>
          </a:xfrm>
          <a:prstGeom prst="roundRect">
            <a:avLst>
              <a:gd fmla="val 10526" name="adj"/>
            </a:avLst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320040" y="932688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E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4B8E6"/>
                </a:solidFill>
                <a:latin typeface="Cambria"/>
                <a:ea typeface="Cambria"/>
                <a:cs typeface="Cambria"/>
                <a:sym typeface="Cambria"/>
              </a:rPr>
              <a:t>1,000 rows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20040" y="1408176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Records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2468880" y="914400"/>
            <a:ext cx="1965960" cy="868680"/>
          </a:xfrm>
          <a:prstGeom prst="roundRect">
            <a:avLst>
              <a:gd fmla="val 10526" name="adj"/>
            </a:avLst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2468880" y="932688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E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4B8E6"/>
                </a:solidFill>
                <a:latin typeface="Cambria"/>
                <a:ea typeface="Cambria"/>
                <a:cs typeface="Cambria"/>
                <a:sym typeface="Cambria"/>
              </a:rPr>
              <a:t>18 features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468880" y="1408176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Columns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617720" y="914400"/>
            <a:ext cx="1965960" cy="868680"/>
          </a:xfrm>
          <a:prstGeom prst="roundRect">
            <a:avLst>
              <a:gd fmla="val 10526" name="adj"/>
            </a:avLst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617720" y="932688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E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4B8E6"/>
                </a:solidFill>
                <a:latin typeface="Cambria"/>
                <a:ea typeface="Cambria"/>
                <a:cs typeface="Cambria"/>
                <a:sym typeface="Cambria"/>
              </a:rPr>
              <a:t>Jan – Dec 2025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617720" y="1408176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Time Period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766560" y="914400"/>
            <a:ext cx="1965960" cy="868680"/>
          </a:xfrm>
          <a:prstGeom prst="roundRect">
            <a:avLst>
              <a:gd fmla="val 10526" name="adj"/>
            </a:avLst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766560" y="932688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E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4B8E6"/>
                </a:solidFill>
                <a:latin typeface="Cambria"/>
                <a:ea typeface="Cambria"/>
                <a:cs typeface="Cambria"/>
                <a:sym typeface="Cambria"/>
              </a:rPr>
              <a:t>None (Cleaned)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766560" y="1408176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65760" y="19202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Key Columns &amp; Data Types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" name="Google Shape;96;p5"/>
          <p:cNvGraphicFramePr/>
          <p:nvPr/>
        </p:nvGraphicFramePr>
        <p:xfrm>
          <a:off x="365760" y="2331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{3090D421-6881-4B9F-A232-8CF34318E536}</a:tableStyleId>
              </a:tblPr>
              <a:tblGrid>
                <a:gridCol w="2011675"/>
                <a:gridCol w="1645925"/>
                <a:gridCol w="4754875"/>
              </a:tblGrid>
              <a:tr h="23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mbr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Column</a:t>
                      </a:r>
                      <a:endParaRPr sz="11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mbr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Data Type</a:t>
                      </a:r>
                      <a:endParaRPr sz="11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mbr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Description</a:t>
                      </a:r>
                      <a:endParaRPr sz="11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</a:tr>
              <a:tr h="23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Order_ID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Unique order identifier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23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Customer_Name / ID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 details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/ Gender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/ String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Demographic attributes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23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cities across India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/ Category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products, 5 categories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23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Units ordered (1–10)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Unit_Price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per unit (₹145 – ₹50K)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23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Total_Sales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per order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 / Quarter / Year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String/Int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Time-based features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23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Age_Group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Young Adult, Adult, Middle Age, Senior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65760" y="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A7EA4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005840" y="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Descriptive Statistics — Numerical Summary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5" name="Google Shape;105;p6"/>
          <p:cNvGraphicFramePr/>
          <p:nvPr/>
        </p:nvGraphicFramePr>
        <p:xfrm>
          <a:off x="36576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{3090D421-6881-4B9F-A232-8CF34318E536}</a:tableStyleId>
              </a:tblPr>
              <a:tblGrid>
                <a:gridCol w="1645925"/>
                <a:gridCol w="1554475"/>
                <a:gridCol w="1554475"/>
                <a:gridCol w="1737350"/>
                <a:gridCol w="1920250"/>
              </a:tblGrid>
              <a:tr h="26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mbr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Statistic</a:t>
                      </a:r>
                      <a:endParaRPr sz="11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mbr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Age</a:t>
                      </a:r>
                      <a:endParaRPr sz="11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mbr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Quantity</a:t>
                      </a:r>
                      <a:endParaRPr sz="11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mbr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Unit Price (₹)</a:t>
                      </a:r>
                      <a:endParaRPr sz="11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mbr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Total Sales (₹)</a:t>
                      </a:r>
                      <a:endParaRPr sz="11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</a:tr>
              <a:tr h="26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F3D"/>
                        </a:buClr>
                        <a:buSzPts val="1050"/>
                        <a:buFont typeface="Cambr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F3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Count</a:t>
                      </a:r>
                      <a:endParaRPr sz="105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26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F3D"/>
                        </a:buClr>
                        <a:buSzPts val="1050"/>
                        <a:buFont typeface="Cambr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F3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Mean</a:t>
                      </a:r>
                      <a:endParaRPr sz="105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41.35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5.44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25,486.78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1,39,399.44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F3D"/>
                        </a:buClr>
                        <a:buSzPts val="1050"/>
                        <a:buFont typeface="Cambr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F3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Std Dev</a:t>
                      </a:r>
                      <a:endParaRPr sz="105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13.68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2.84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14,179.40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1,14,100.05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26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F3D"/>
                        </a:buClr>
                        <a:buSzPts val="1050"/>
                        <a:buFont typeface="Cambr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F3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Min</a:t>
                      </a:r>
                      <a:endParaRPr sz="105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145.78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437.34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F3D"/>
                        </a:buClr>
                        <a:buSzPts val="1050"/>
                        <a:buFont typeface="Cambr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F3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25th %ile</a:t>
                      </a:r>
                      <a:endParaRPr sz="105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13,895.72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47,066.63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26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F3D"/>
                        </a:buClr>
                        <a:buSzPts val="1050"/>
                        <a:buFont typeface="Cambr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F3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Median</a:t>
                      </a:r>
                      <a:endParaRPr sz="105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25,398.74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1,08,594.02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F3D"/>
                        </a:buClr>
                        <a:buSzPts val="1050"/>
                        <a:buFont typeface="Cambr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F3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75th %ile</a:t>
                      </a:r>
                      <a:endParaRPr sz="105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37,512.38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2,03,722.88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26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F3D"/>
                        </a:buClr>
                        <a:buSzPts val="1050"/>
                        <a:buFont typeface="Cambr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F3D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Max</a:t>
                      </a:r>
                      <a:endParaRPr sz="105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49,997.53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4,93,677.50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Google Shape;106;p6"/>
          <p:cNvSpPr/>
          <p:nvPr/>
        </p:nvSpPr>
        <p:spPr>
          <a:xfrm>
            <a:off x="365760" y="34290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Key Observations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65760" y="3840480"/>
            <a:ext cx="4160520" cy="411480"/>
          </a:xfrm>
          <a:prstGeom prst="roundRect">
            <a:avLst>
              <a:gd fmla="val 15556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57200" y="384048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📊  Avg sale value ₹1.39L — high variability (std ₹1.14L)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754880" y="3840480"/>
            <a:ext cx="4160520" cy="411480"/>
          </a:xfrm>
          <a:prstGeom prst="roundRect">
            <a:avLst>
              <a:gd fmla="val 15556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846320" y="384048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👥  Customer age range: 18–65 yrs, median 41 — balanced adult-heavy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65760" y="4343400"/>
            <a:ext cx="4160520" cy="411480"/>
          </a:xfrm>
          <a:prstGeom prst="roundRect">
            <a:avLst>
              <a:gd fmla="val 15556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57200" y="434340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📦  Quantity ranges 1–10 units, avg 5.44 — bulk buying is common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754880" y="4343400"/>
            <a:ext cx="4160520" cy="411480"/>
          </a:xfrm>
          <a:prstGeom prst="roundRect">
            <a:avLst>
              <a:gd fmla="val 15556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846320" y="434340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💰  Unit price spans ₹145 to ₹50K — wide premium product 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365760" y="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A7EA4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005840" y="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Univariate Analysis — Revenue by Category &amp; Product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5200" y="858825"/>
            <a:ext cx="2989201" cy="28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22950"/>
            <a:ext cx="3025200" cy="296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9575" y="823700"/>
            <a:ext cx="3509001" cy="296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3785400"/>
            <a:ext cx="9143999" cy="138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365760" y="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A7EA4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1005840" y="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Univariate Analysis — City, Gender &amp; Age Group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5575" y="1123700"/>
            <a:ext cx="2828975" cy="3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84675"/>
            <a:ext cx="3415575" cy="334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4550" y="1123700"/>
            <a:ext cx="2726126" cy="318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365760" y="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A7EA4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005840" y="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SQL Business Insights — Key Query Results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365760" y="914400"/>
            <a:ext cx="8412480" cy="731520"/>
          </a:xfrm>
          <a:prstGeom prst="roundRect">
            <a:avLst>
              <a:gd fmla="val 12500" name="adj"/>
            </a:avLst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E6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4B8E6"/>
                </a:solidFill>
                <a:latin typeface="Cambria"/>
                <a:ea typeface="Cambria"/>
                <a:cs typeface="Cambria"/>
                <a:sym typeface="Cambria"/>
              </a:rPr>
              <a:t>Total Revenue  →  ₹13,93,99,439.65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365760" y="178308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Top 5 Customers by Revenue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9"/>
          <p:cNvGraphicFramePr/>
          <p:nvPr/>
        </p:nvGraphicFramePr>
        <p:xfrm>
          <a:off x="365760" y="21762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{3090D421-6881-4B9F-A232-8CF34318E536}</a:tableStyleId>
              </a:tblPr>
              <a:tblGrid>
                <a:gridCol w="2560325"/>
                <a:gridCol w="15544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Customer</a:t>
                      </a:r>
                      <a:endParaRPr sz="1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Revenue (₹)</a:t>
                      </a:r>
                      <a:endParaRPr sz="1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Customer_335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16,84,832.52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Customer_138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13,05,932.64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Customer_266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12,69,445.22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Customer_375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11,96,934.33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Customer_274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10,60,340.15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50" name="Google Shape;150;p9"/>
          <p:cNvSpPr/>
          <p:nvPr/>
        </p:nvSpPr>
        <p:spPr>
          <a:xfrm>
            <a:off x="4663440" y="178308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Avg Order Value by Category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9"/>
          <p:cNvGraphicFramePr/>
          <p:nvPr/>
        </p:nvGraphicFramePr>
        <p:xfrm>
          <a:off x="4663440" y="21762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{3090D421-6881-4B9F-A232-8CF34318E536}</a:tableStyleId>
              </a:tblPr>
              <a:tblGrid>
                <a:gridCol w="2560325"/>
                <a:gridCol w="15544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Category</a:t>
                      </a:r>
                      <a:endParaRPr sz="1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Avg Order (₹)</a:t>
                      </a:r>
                      <a:endParaRPr sz="1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Grocery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1,45,305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Electronics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1,43,442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Education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1,40,627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Furniture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1,35,355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Fashion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1,27,153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9"/>
          <p:cNvSpPr/>
          <p:nvPr/>
        </p:nvSpPr>
        <p:spPr>
          <a:xfrm>
            <a:off x="365760" y="4114800"/>
            <a:ext cx="8412480" cy="777240"/>
          </a:xfrm>
          <a:prstGeom prst="roundRect">
            <a:avLst>
              <a:gd fmla="val 9412" name="adj"/>
            </a:avLst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548640" y="4160520"/>
            <a:ext cx="8138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0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Category, ROUND(AVG(Total_Sales),2) AS Avg_Order_Value </a:t>
            </a:r>
            <a:r>
              <a:rPr b="1" i="0" lang="en-US" sz="950" u="none" cap="none" strike="noStrike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sales_data </a:t>
            </a:r>
            <a:r>
              <a:rPr b="1" i="0" lang="en-US" sz="950" u="none" cap="none" strike="noStrike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GROUP BY </a:t>
            </a:r>
            <a:r>
              <a:rPr b="0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Category </a:t>
            </a:r>
            <a:r>
              <a:rPr b="1" i="0" lang="en-US" sz="950" u="none" cap="none" strike="noStrike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ORDER BY </a:t>
            </a:r>
            <a:r>
              <a:rPr b="0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Avg_Order_Value DESC;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365760" y="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A7EA4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1005840" y="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SQL Insight — Monthly Revenue Trend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365760" y="4041648"/>
            <a:ext cx="196596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475488" y="4133088"/>
            <a:ext cx="128016" cy="128016"/>
          </a:xfrm>
          <a:prstGeom prst="ellipse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411480" y="4078224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March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411480" y="443484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Peak Month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2514600" y="4041648"/>
            <a:ext cx="196596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2624328" y="4133088"/>
            <a:ext cx="128016" cy="12801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2560320" y="4078224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September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2560320" y="443484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Lowest Month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663440" y="4041648"/>
            <a:ext cx="196596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4773168" y="4133088"/>
            <a:ext cx="128016" cy="128016"/>
          </a:xfrm>
          <a:prstGeom prst="ellipse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4709160" y="4078224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₹1.24 Cr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709160" y="443484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Q4 Avg/Month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812280" y="4041648"/>
            <a:ext cx="196596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6922008" y="4133088"/>
            <a:ext cx="128016" cy="128016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6858000" y="4078224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Seasonal dips Q3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858000" y="443484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YoY Pattern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5350"/>
            <a:ext cx="8818276" cy="29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365760" y="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A7EA4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005840" y="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Multivariate Analysis — Correlation Insights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365760" y="9144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Correlation Matrix (Pearson)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8" name="Google Shape;188;p11"/>
          <p:cNvGraphicFramePr/>
          <p:nvPr/>
        </p:nvGraphicFramePr>
        <p:xfrm>
          <a:off x="36576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{3090D421-6881-4B9F-A232-8CF34318E536}</a:tableStyleId>
              </a:tblPr>
              <a:tblGrid>
                <a:gridCol w="1371600"/>
                <a:gridCol w="914400"/>
                <a:gridCol w="914400"/>
                <a:gridCol w="914400"/>
                <a:gridCol w="9144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Price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Sales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-0.028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-0.012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Quantity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-0.028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0.647 ↑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9A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Price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-0.012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0.686 ↑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9A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Sales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0.647 ↑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0.686 ↑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E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7EA4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11"/>
          <p:cNvSpPr/>
          <p:nvPr/>
        </p:nvSpPr>
        <p:spPr>
          <a:xfrm>
            <a:off x="365760" y="331012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Legend: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365760" y="3657600"/>
            <a:ext cx="228600" cy="18288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640080" y="3630168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Strong (≥0.6)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2103120" y="3657600"/>
            <a:ext cx="228600" cy="182880"/>
          </a:xfrm>
          <a:prstGeom prst="rect">
            <a:avLst/>
          </a:prstGeom>
          <a:solidFill>
            <a:srgbClr val="14B8E6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2377440" y="3630168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Moderate (0.3–0.6)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3840480" y="3657600"/>
            <a:ext cx="228600" cy="182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4114800" y="3630168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Weak (&lt;0.3)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5577840" y="91440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Key Findings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577840" y="1325880"/>
            <a:ext cx="32918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5577840" y="1325880"/>
            <a:ext cx="960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A7EA4"/>
                </a:solidFill>
                <a:latin typeface="Cambria"/>
                <a:ea typeface="Cambria"/>
                <a:cs typeface="Cambria"/>
                <a:sym typeface="Cambria"/>
              </a:rPr>
              <a:t>0.686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11"/>
          <p:cNvCxnSpPr/>
          <p:nvPr/>
        </p:nvCxnSpPr>
        <p:spPr>
          <a:xfrm>
            <a:off x="6537960" y="1463040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1"/>
          <p:cNvSpPr/>
          <p:nvPr/>
        </p:nvSpPr>
        <p:spPr>
          <a:xfrm>
            <a:off x="6629400" y="132588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Unit Price ↔ Total Sales — strongest driver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5577840" y="2221992"/>
            <a:ext cx="32918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5577840" y="2221992"/>
            <a:ext cx="960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A7EA4"/>
                </a:solidFill>
                <a:latin typeface="Cambria"/>
                <a:ea typeface="Cambria"/>
                <a:cs typeface="Cambria"/>
                <a:sym typeface="Cambria"/>
              </a:rPr>
              <a:t>0.647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11"/>
          <p:cNvCxnSpPr/>
          <p:nvPr/>
        </p:nvCxnSpPr>
        <p:spPr>
          <a:xfrm>
            <a:off x="6537960" y="2359152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11"/>
          <p:cNvSpPr/>
          <p:nvPr/>
        </p:nvSpPr>
        <p:spPr>
          <a:xfrm>
            <a:off x="6629400" y="2221992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Quantity ↔ Total Sales — volume matters too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5577840" y="3118104"/>
            <a:ext cx="32918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5577840" y="3118104"/>
            <a:ext cx="960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A7EA4"/>
                </a:solidFill>
                <a:latin typeface="Cambria"/>
                <a:ea typeface="Cambria"/>
                <a:cs typeface="Cambria"/>
                <a:sym typeface="Cambria"/>
              </a:rPr>
              <a:t>~0.00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1"/>
          <p:cNvCxnSpPr/>
          <p:nvPr/>
        </p:nvCxnSpPr>
        <p:spPr>
          <a:xfrm>
            <a:off x="6537960" y="3255264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1"/>
          <p:cNvSpPr/>
          <p:nvPr/>
        </p:nvSpPr>
        <p:spPr>
          <a:xfrm>
            <a:off x="6629400" y="3118104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 has no correlation with purchase value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577840" y="4014216"/>
            <a:ext cx="32918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5577840" y="4014216"/>
            <a:ext cx="960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A7EA4"/>
                </a:solidFill>
                <a:latin typeface="Cambria"/>
                <a:ea typeface="Cambria"/>
                <a:cs typeface="Cambria"/>
                <a:sym typeface="Cambria"/>
              </a:rPr>
              <a:t>−0.028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11"/>
          <p:cNvCxnSpPr/>
          <p:nvPr/>
        </p:nvCxnSpPr>
        <p:spPr>
          <a:xfrm>
            <a:off x="6537960" y="4151376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11"/>
          <p:cNvSpPr/>
          <p:nvPr/>
        </p:nvSpPr>
        <p:spPr>
          <a:xfrm>
            <a:off x="6629400" y="4014216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Older customers order slightly less quantity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3D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365760" y="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A7EA4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1005840" y="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KPI Dashboard Mock-up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320040" y="914400"/>
            <a:ext cx="2011680" cy="1188720"/>
          </a:xfrm>
          <a:prstGeom prst="roundRect">
            <a:avLst>
              <a:gd fmla="val 7692" name="adj"/>
            </a:avLst>
          </a:prstGeom>
          <a:solidFill>
            <a:srgbClr val="1322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393192" y="987552"/>
            <a:ext cx="457200" cy="128016"/>
          </a:xfrm>
          <a:prstGeom prst="roundRect">
            <a:avLst>
              <a:gd fmla="val 21429" name="adj"/>
            </a:avLst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320040" y="114300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₹13.94 Cr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320040" y="159105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00C9A7"/>
                </a:solidFill>
                <a:latin typeface="Cambria"/>
                <a:ea typeface="Cambria"/>
                <a:cs typeface="Cambria"/>
                <a:sym typeface="Cambria"/>
              </a:rPr>
              <a:t>Total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320040" y="18288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FY 2025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2468880" y="914400"/>
            <a:ext cx="2011680" cy="1188720"/>
          </a:xfrm>
          <a:prstGeom prst="roundRect">
            <a:avLst>
              <a:gd fmla="val 7692" name="adj"/>
            </a:avLst>
          </a:prstGeom>
          <a:solidFill>
            <a:srgbClr val="1322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2542032" y="987552"/>
            <a:ext cx="457200" cy="128016"/>
          </a:xfrm>
          <a:prstGeom prst="roundRect">
            <a:avLst>
              <a:gd fmla="val 21429" name="adj"/>
            </a:avLst>
          </a:prstGeom>
          <a:solidFill>
            <a:srgbClr val="14B8E6"/>
          </a:solidFill>
          <a:ln cap="flat" cmpd="sng" w="12700">
            <a:solidFill>
              <a:srgbClr val="14B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2468880" y="114300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1,000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2468880" y="159105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E6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14B8E6"/>
                </a:solidFill>
                <a:latin typeface="Cambria"/>
                <a:ea typeface="Cambria"/>
                <a:cs typeface="Cambria"/>
                <a:sym typeface="Cambria"/>
              </a:rPr>
              <a:t>Total Orders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2468880" y="18288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Avg ₹1.39L / order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4617720" y="914400"/>
            <a:ext cx="2011680" cy="1188720"/>
          </a:xfrm>
          <a:prstGeom prst="roundRect">
            <a:avLst>
              <a:gd fmla="val 7692" name="adj"/>
            </a:avLst>
          </a:prstGeom>
          <a:solidFill>
            <a:srgbClr val="1322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4690872" y="987552"/>
            <a:ext cx="457200" cy="128016"/>
          </a:xfrm>
          <a:prstGeom prst="roundRect">
            <a:avLst>
              <a:gd fmla="val 21429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4617720" y="114300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5.44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617720" y="159105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rPr>
              <a:t>Avg Qty/Order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617720" y="18288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Units per transaction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6766560" y="914400"/>
            <a:ext cx="2011680" cy="1188720"/>
          </a:xfrm>
          <a:prstGeom prst="roundRect">
            <a:avLst>
              <a:gd fmla="val 7692" name="adj"/>
            </a:avLst>
          </a:prstGeom>
          <a:solidFill>
            <a:srgbClr val="1322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6839712" y="987552"/>
            <a:ext cx="457200" cy="128016"/>
          </a:xfrm>
          <a:prstGeom prst="roundRect">
            <a:avLst>
              <a:gd fmla="val 21429" name="adj"/>
            </a:avLst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6766560" y="114300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₹25,486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6766560" y="159105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Cambria"/>
                <a:ea typeface="Cambria"/>
                <a:cs typeface="Cambria"/>
                <a:sym typeface="Cambria"/>
              </a:rPr>
              <a:t>Avg Unit Price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6766560" y="18288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Across all products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194560"/>
            <a:ext cx="4297680" cy="2697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2194560"/>
            <a:ext cx="4069080" cy="2697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365760" y="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A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A7EA4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1005840" y="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Key Findings &amp; Business Recommendations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320040" y="960120"/>
            <a:ext cx="4206240" cy="1170432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429768" y="1088136"/>
            <a:ext cx="548640" cy="548640"/>
          </a:xfrm>
          <a:prstGeom prst="ellipse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429768" y="108813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1097280" y="1051560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Electronics Dominates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1097280" y="139903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Electronics accounts for 36.4% of total revenue (₹5.08 Cr) — prioritize inventory and marketing here.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4754880" y="960120"/>
            <a:ext cx="4206240" cy="1170432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4864608" y="1088136"/>
            <a:ext cx="548640" cy="548640"/>
          </a:xfrm>
          <a:prstGeom prst="ellipse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4864608" y="108813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🏙️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5532120" y="1051560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Patna is Top City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5532120" y="139903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Patna generates ₹2.08 Cr, slightly above Kolkata &amp; Bengaluru. Consider region-specific promotions.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320040" y="2258568"/>
            <a:ext cx="4206240" cy="1170432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429768" y="2386584"/>
            <a:ext cx="548640" cy="548640"/>
          </a:xfrm>
          <a:prstGeom prst="ellipse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429768" y="238658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1097280" y="2350008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Price Drives Sales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1097280" y="269748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Unit Price has the highest correlation with Total Sales (r=0.686). Premium product strategies yield higher revenue.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4754880" y="2258568"/>
            <a:ext cx="4206240" cy="1170432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4864608" y="2386584"/>
            <a:ext cx="548640" cy="548640"/>
          </a:xfrm>
          <a:prstGeom prst="ellipse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4864608" y="238658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5532120" y="2350008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Quantity Also Matters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5532120" y="269748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Quantity has r=0.647 with Total Sales — bulk offers and combo deals can significantly boost revenue.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320040" y="3557016"/>
            <a:ext cx="4206240" cy="1170432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429768" y="3685032"/>
            <a:ext cx="548640" cy="548640"/>
          </a:xfrm>
          <a:prstGeom prst="ellipse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429768" y="36850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1097280" y="3648456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Adults are Core Buyers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1097280" y="3995928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Adults (25–45 yrs) contribute ₹4.63 Cr. Target campaigns for Young Adults to expand this segment.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4754880" y="3557016"/>
            <a:ext cx="4206240" cy="1170432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E5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4864608" y="3685032"/>
            <a:ext cx="548640" cy="548640"/>
          </a:xfrm>
          <a:prstGeom prst="ellipse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4864608" y="36850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📉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532120" y="3648456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Q3 Shows Seasonal Dip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5532120" y="3995928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August–September sees lowest sales. Plan festive pre-season campaigns to fill this trough.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320040" y="4645152"/>
            <a:ext cx="8503920" cy="320040"/>
          </a:xfrm>
          <a:prstGeom prst="roundRect">
            <a:avLst>
              <a:gd fmla="val 14286" name="adj"/>
            </a:avLst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320040" y="4645152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EDA completed using Python (Pandas, Matplotlib, Seaborn) • SQL queries executed in MySQL • Dataset: 1,000 orders across 8 Indian cities | 2025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3D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A7EA4">
              <a:alpha val="14901"/>
            </a:srgbClr>
          </a:solidFill>
          <a:ln cap="flat" cmpd="sng" w="12700">
            <a:solidFill>
              <a:srgbClr val="0A7EA4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6842375" y="2688550"/>
            <a:ext cx="2743200" cy="2743200"/>
          </a:xfrm>
          <a:prstGeom prst="ellipse">
            <a:avLst/>
          </a:prstGeom>
          <a:solidFill>
            <a:srgbClr val="00C9A7">
              <a:alpha val="14901"/>
            </a:srgbClr>
          </a:solidFill>
          <a:ln cap="flat" cmpd="sng" w="12700">
            <a:solidFill>
              <a:srgbClr val="00C9A7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E6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14B8E6"/>
                </a:solidFill>
                <a:latin typeface="Cambria"/>
                <a:ea typeface="Cambria"/>
                <a:cs typeface="Cambria"/>
                <a:sym typeface="Cambria"/>
              </a:rPr>
              <a:t>EDA &amp; Business Intelligence Report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2926080" y="2788920"/>
            <a:ext cx="3291840" cy="36576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914400" y="297180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Prepared by: Ritika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